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29" r:id="rId4"/>
  </p:sldMasterIdLst>
  <p:notesMasterIdLst>
    <p:notesMasterId r:id="rId11"/>
  </p:notesMasterIdLst>
  <p:handoutMasterIdLst>
    <p:handoutMasterId r:id="rId12"/>
  </p:handoutMasterIdLst>
  <p:sldIdLst>
    <p:sldId id="256" r:id="rId5"/>
    <p:sldId id="1033" r:id="rId6"/>
    <p:sldId id="1034" r:id="rId7"/>
    <p:sldId id="1035" r:id="rId8"/>
    <p:sldId id="1036" r:id="rId9"/>
    <p:sldId id="1037" r:id="rId10"/>
  </p:sldIdLst>
  <p:sldSz cx="12192000" cy="6858000"/>
  <p:notesSz cx="7010400" cy="92964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2" initials="CA" lastIdx="2" clrIdx="0">
    <p:extLst>
      <p:ext uri="{19B8F6BF-5375-455C-9EA6-DF929625EA0E}">
        <p15:presenceInfo xmlns:p15="http://schemas.microsoft.com/office/powerpoint/2012/main" userId="Andrey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1E9657"/>
    <a:srgbClr val="2FBD71"/>
    <a:srgbClr val="B1D254"/>
    <a:srgbClr val="009688"/>
    <a:srgbClr val="000000"/>
    <a:srgbClr val="D1DAE9"/>
    <a:srgbClr val="F0F3F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050" autoAdjust="0"/>
    <p:restoredTop sz="95301" autoAdjust="0"/>
  </p:normalViewPr>
  <p:slideViewPr>
    <p:cSldViewPr snapToGrid="0">
      <p:cViewPr varScale="1">
        <p:scale>
          <a:sx n="164" d="100"/>
          <a:sy n="164" d="100"/>
        </p:scale>
        <p:origin x="860" y="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171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232" y="0"/>
            <a:ext cx="3038170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682"/>
            <a:ext cx="3038171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232" y="8830682"/>
            <a:ext cx="3038170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fld id="{867FF36F-819D-4D2B-A8BB-AF91032F0C08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28693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171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232" y="0"/>
            <a:ext cx="3038170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5325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061" y="4416091"/>
            <a:ext cx="5142280" cy="4183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682"/>
            <a:ext cx="3038171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232" y="8830682"/>
            <a:ext cx="3038170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fld id="{459FDB58-73C4-413E-BB6C-BBE882DFCE1B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61250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280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528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977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11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>
            <a:lvl1pPr>
              <a:defRPr sz="4000">
                <a:latin typeface="+mj-ea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+mj-ea"/>
                <a:ea typeface="+mj-ea"/>
              </a:defRPr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1270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C394A-9E02-4841-ACC8-9EFF4DA633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F5492D28-9CB3-4957-BFD2-683A3D6260A5}" type="slidenum">
              <a:rPr lang="en-GB" altLang="en-US" smtClean="0"/>
              <a:pPr/>
              <a:t>‹#›</a:t>
            </a:fld>
            <a:endParaRPr lang="en-GB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CFD951-EB5F-444C-A429-749DF9E8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230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147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17132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2085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2081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1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21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fi-FI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2668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3565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5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5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92723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911225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601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55528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911225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09670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green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09" y="6475413"/>
            <a:ext cx="486833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8" descr="green.jpg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6456363"/>
            <a:ext cx="618913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274638"/>
            <a:ext cx="91122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en-GB" alt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6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 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GB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0960" y="6483350"/>
            <a:ext cx="527049" cy="222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fld id="{F5492D28-9CB3-4957-BFD2-683A3D6260A5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auto">
          <a:xfrm>
            <a:off x="1559984" y="5009401"/>
            <a:ext cx="6102349" cy="246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001" dirty="0">
                <a:solidFill>
                  <a:schemeClr val="bg1"/>
                </a:solidFill>
                <a:latin typeface="Arial" panose="020B0604020202020204" pitchFamily="34" charset="0"/>
              </a:rPr>
              <a:t>© 3GPP 2009     Mobile World Congress, Barcelona, 19</a:t>
            </a:r>
            <a:r>
              <a:rPr lang="en-GB" altLang="en-US" sz="1001" baseline="30000" dirty="0">
                <a:solidFill>
                  <a:schemeClr val="bg1"/>
                </a:solidFill>
                <a:latin typeface="Arial" panose="020B0604020202020204" pitchFamily="34" charset="0"/>
              </a:rPr>
              <a:t>th</a:t>
            </a:r>
            <a:r>
              <a:rPr lang="en-GB" altLang="en-US" sz="1001" dirty="0">
                <a:solidFill>
                  <a:schemeClr val="bg1"/>
                </a:solidFill>
                <a:latin typeface="Arial" panose="020B0604020202020204" pitchFamily="34" charset="0"/>
              </a:rPr>
              <a:t> February 2009</a:t>
            </a:r>
          </a:p>
        </p:txBody>
      </p:sp>
      <p:pic>
        <p:nvPicPr>
          <p:cNvPr id="1033" name="Picture 7" descr="green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09" y="6475413"/>
            <a:ext cx="486833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3" descr="green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09" y="6475413"/>
            <a:ext cx="486833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7" name="Rectangle 6"/>
          <p:cNvSpPr>
            <a:spLocks noChangeArrowheads="1"/>
          </p:cNvSpPr>
          <p:nvPr/>
        </p:nvSpPr>
        <p:spPr bwMode="auto">
          <a:xfrm>
            <a:off x="593777" y="6455545"/>
            <a:ext cx="957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200" b="1" dirty="0">
                <a:solidFill>
                  <a:schemeClr val="bg1"/>
                </a:solidFill>
                <a:latin typeface="Arial" panose="020B0604020202020204" pitchFamily="34" charset="0"/>
              </a:rPr>
              <a:t>RAN WG4</a:t>
            </a:r>
          </a:p>
        </p:txBody>
      </p:sp>
      <p:sp>
        <p:nvSpPr>
          <p:cNvPr id="56334" name="Slide Number Placeholder 4"/>
          <p:cNvSpPr txBox="1">
            <a:spLocks noGrp="1"/>
          </p:cNvSpPr>
          <p:nvPr userDrawn="1"/>
        </p:nvSpPr>
        <p:spPr bwMode="auto">
          <a:xfrm>
            <a:off x="11432126" y="6464300"/>
            <a:ext cx="527049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fld id="{E4DF48D0-4F83-437C-BDD1-C6E5F5F353CD}" type="slidenum">
              <a:rPr lang="en-GB" altLang="en-US" sz="1100">
                <a:solidFill>
                  <a:schemeClr val="bg1"/>
                </a:solidFill>
                <a:latin typeface="Arial" charset="0"/>
              </a:rPr>
              <a:pPr eaLnBrk="1" hangingPunct="1"/>
              <a:t>‹#›</a:t>
            </a:fld>
            <a:endParaRPr lang="en-GB" altLang="en-US" sz="11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14" name="Picture 6" descr="3GPP_TM_RD.jpg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563" y="373075"/>
            <a:ext cx="149383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55" r:id="rId1"/>
    <p:sldLayoutId id="2147484556" r:id="rId2"/>
    <p:sldLayoutId id="2147484557" r:id="rId3"/>
    <p:sldLayoutId id="2147484558" r:id="rId4"/>
    <p:sldLayoutId id="2147484559" r:id="rId5"/>
    <p:sldLayoutId id="2147484560" r:id="rId6"/>
    <p:sldLayoutId id="2147484561" r:id="rId7"/>
    <p:sldLayoutId id="2147484562" r:id="rId8"/>
    <p:sldLayoutId id="2147484563" r:id="rId9"/>
    <p:sldLayoutId id="2147484564" r:id="rId10"/>
    <p:sldLayoutId id="2147484565" r:id="rId11"/>
    <p:sldLayoutId id="2147484566" r:id="rId12"/>
    <p:sldLayoutId id="2147484567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5pPr>
      <a:lvl6pPr marL="457177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6pPr>
      <a:lvl7pPr marL="914354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7pPr>
      <a:lvl8pPr marL="1371531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8pPr>
      <a:lvl9pPr marL="1828709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9pPr>
    </p:titleStyle>
    <p:bodyStyle>
      <a:lvl1pPr marL="342882" indent="-342882" algn="l" rtl="0" eaLnBrk="0" fontAlgn="base" hangingPunct="0">
        <a:spcBef>
          <a:spcPct val="20000"/>
        </a:spcBef>
        <a:spcAft>
          <a:spcPct val="0"/>
        </a:spcAft>
        <a:buBlip>
          <a:blip r:embed="rId18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400">
          <a:solidFill>
            <a:schemeClr val="tx1"/>
          </a:solidFill>
          <a:latin typeface="+mn-lt"/>
        </a:defRPr>
      </a:lvl2pPr>
      <a:lvl3pPr marL="1142943" indent="-2285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3pPr>
      <a:lvl4pPr marL="1600121" indent="-2285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>
          <a:solidFill>
            <a:schemeClr val="tx1"/>
          </a:solidFill>
          <a:latin typeface="+mn-lt"/>
        </a:defRPr>
      </a:lvl4pPr>
      <a:lvl5pPr marL="2057298" indent="-2285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476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6pPr>
      <a:lvl7pPr marL="2971652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7pPr>
      <a:lvl8pPr marL="3428829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8pPr>
      <a:lvl9pPr marL="3886007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i-FI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B4873-874C-3FA2-DF13-DB7BDF49C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RAN4#119 Meeting Schedule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2D0CA-1674-2528-C18C-5F76A0D414A3}"/>
              </a:ext>
            </a:extLst>
          </p:cNvPr>
          <p:cNvSpPr txBox="1"/>
          <p:nvPr/>
        </p:nvSpPr>
        <p:spPr>
          <a:xfrm>
            <a:off x="612396" y="343949"/>
            <a:ext cx="11216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0520363" algn="r"/>
              </a:tabLst>
            </a:pPr>
            <a:r>
              <a:rPr lang="en-US" dirty="0"/>
              <a:t>3GPP TSG RAN WG4 Meeting #119	</a:t>
            </a:r>
          </a:p>
          <a:p>
            <a:pPr>
              <a:tabLst>
                <a:tab pos="10520363" algn="r"/>
              </a:tabLst>
            </a:pPr>
            <a:r>
              <a:rPr lang="en-US" dirty="0"/>
              <a:t>Dalian, China, May 18-22, 2026</a:t>
            </a:r>
          </a:p>
        </p:txBody>
      </p:sp>
    </p:spTree>
    <p:extLst>
      <p:ext uri="{BB962C8B-B14F-4D97-AF65-F5344CB8AC3E}">
        <p14:creationId xmlns:p14="http://schemas.microsoft.com/office/powerpoint/2010/main" val="826560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747" y="-222024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Monday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674640"/>
              </p:ext>
            </p:extLst>
          </p:nvPr>
        </p:nvGraphicFramePr>
        <p:xfrm>
          <a:off x="339438" y="689513"/>
          <a:ext cx="11826068" cy="6051190"/>
        </p:xfrm>
        <a:graphic>
          <a:graphicData uri="http://schemas.openxmlformats.org/drawingml/2006/table">
            <a:tbl>
              <a:tblPr/>
              <a:tblGrid>
                <a:gridCol w="82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4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0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01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9:00-09:30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 Opening of the meeting 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 Approval of the agenda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 Letters / reports from other groups / meetings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 Incoming LS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5. On 6G TR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6. On spectrum and non-spectrum WI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RAN4 operation efficiency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[102] General RF and UE RF, chaired by Toni</a:t>
                      </a:r>
                      <a:endParaRPr kumimoji="0" lang="nb-NO" altLang="zh-CN" sz="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[201] NR_RRM_Ph6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[340] NR_UE_RF_Ph5 (16)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[341] NR_UE_RF_Ph5_Part2 (26)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OTA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[212]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NR_UE_OTA_Enh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Ruixin Wang (vivo)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9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505560"/>
                  </a:ext>
                </a:extLst>
              </a:tr>
              <a:tr h="53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11:00-13:00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[202] NR_UAV_req_RRM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UE RF (</a:t>
                      </a:r>
                      <a:r>
                        <a:rPr kumimoji="0" lang="es-E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s-E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[346] NR_IoT_NTN_Ph2 (15)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 Chaired by Jerry (Apple)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9250"/>
                  </a:ext>
                </a:extLst>
              </a:tr>
              <a:tr h="197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  <a:endParaRPr kumimoji="0" lang="it-IT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1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-16:30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---3:00pm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[102] General RF and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Coffee break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[102] General RF and UE RF, chaired by Toni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NR_AIML_air_Ph2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(cont)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[347] NR_IoT_NTN_Ph2_Part2 (19)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[348] Study_NR_NTN_GNSS_resilient (15)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5G BSRF (14:30 – 15:30)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[345] NR_BS_RF_Ph2, chaired by Torbjörn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Ad-hoc: 6G testability/OTA (15:30-16:30)</a:t>
                      </a:r>
                      <a:endParaRPr kumimoji="0" lang="nn-NO" altLang="zh-CN" sz="8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[213] 6G testability and OTA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Ruixin Wang (vivo)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435348"/>
                  </a:ext>
                </a:extLst>
              </a:tr>
              <a:tr h="7796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[102] General RF and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[108] Spectrum </a:t>
                      </a:r>
                      <a:r>
                        <a:rPr kumimoji="0" lang="nb-NO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sharing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[204] NR_MIMO_Ph6_RRM</a:t>
                      </a:r>
                      <a:endParaRPr lang="en-US" altLang="zh-CN" sz="800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(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[349] LTE_TN_NR_NTN_handover (16)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[350]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LTE_IoT_NTN_high_power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(8)</a:t>
                      </a:r>
                      <a:endParaRPr kumimoji="0" lang="en-US" altLang="zh-CN" sz="8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R20</a:t>
                      </a:r>
                      <a:r>
                        <a:rPr lang="en-US" altLang="zh-CN" sz="800" b="1" strike="noStrike" kern="1200" baseline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AI: 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NR_AIML_air_Ph2, Chaired by Tom (E///)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[102-A] 6G General RF and UE RF, Chaired by Toni (Qualcomm)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RRM 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[215][216] RRM_Maintenance_Up_to_R17 &amp; RRM_Maintenance_R18_R19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Zhang Li (Huawei)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 Sensing coexistence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[362] 6G_Sensing, chaired by Fei (ZTE)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</a:t>
                      </a: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NR_AIML_air_Ph2, Chaired by Tom (E///)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04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2" y="130320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Tuesday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443184"/>
              </p:ext>
            </p:extLst>
          </p:nvPr>
        </p:nvGraphicFramePr>
        <p:xfrm>
          <a:off x="230188" y="1123445"/>
          <a:ext cx="11384789" cy="5969995"/>
        </p:xfrm>
        <a:graphic>
          <a:graphicData uri="http://schemas.openxmlformats.org/drawingml/2006/table">
            <a:tbl>
              <a:tblPr/>
              <a:tblGrid>
                <a:gridCol w="648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8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8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26139">
                  <a:extLst>
                    <a:ext uri="{9D8B030D-6E8A-4147-A177-3AD203B41FA5}">
                      <a16:colId xmlns:a16="http://schemas.microsoft.com/office/drawing/2014/main" val="3047229552"/>
                    </a:ext>
                  </a:extLst>
                </a:gridCol>
                <a:gridCol w="159542">
                  <a:extLst>
                    <a:ext uri="{9D8B030D-6E8A-4147-A177-3AD203B41FA5}">
                      <a16:colId xmlns:a16="http://schemas.microsoft.com/office/drawing/2014/main" val="2606388772"/>
                    </a:ext>
                  </a:extLst>
                </a:gridCol>
              </a:tblGrid>
              <a:tr h="1857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[107] 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(107-B and 107-A)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[206] NR_Mob_Ph5_RRM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[207] Ambient_IoT_Ph2_RRM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TN – NTN handover (8:00 – 9:00)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[349] LTE_TN_NR_NTN_handover, chaired by Lingyu (CATT) (8:00 – 8:30)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[306] papers on TEI-19 [NR_TN_NR NTN_HO_req] , chaired by Shiyuan (CMCC) (8:30 – 9:00)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5G UE RF (</a:t>
                      </a: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9:00 – 10:00</a:t>
                      </a: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[340] NR_UE_RF_Ph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[341] NR_UE_RF_Ph5_Part2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 by Alok (Nokia) and Tina (Samsung)</a:t>
                      </a:r>
                      <a:endParaRPr kumimoji="0" lang="en-US" altLang="zh-CN" sz="8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BR2 Ad-hoc: NTN RF </a:t>
                      </a:r>
                      <a:r>
                        <a:rPr kumimoji="0" lang="en-US" altLang="zh-CN" sz="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maint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(10:00 – 11:00), incl coffee break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[301]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NR_IoT_NTN_Maint_Legacy_RF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[305] </a:t>
                      </a:r>
                      <a:r>
                        <a:rPr kumimoji="0" lang="fr-F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NR_IoT_NTN_Maintenance</a:t>
                      </a:r>
                      <a:endParaRPr kumimoji="0" lang="fr-F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Daniel (MTK)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6G OTA</a:t>
                      </a:r>
                      <a:endParaRPr kumimoji="0" lang="de-DE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[213] 6G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testability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and OTA,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by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Ruixin Wang (vivo)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strike="noStrike" kern="1200" baseline="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7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516519"/>
                  </a:ext>
                </a:extLst>
              </a:tr>
              <a:tr h="36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:00-13:00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[208] NR_demod_Ph6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[342]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NR_low_band_CA_switching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(11)</a:t>
                      </a: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UAV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[351] NR_UAV (15)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Spectrum basket work items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[324] NR_CADC_SUL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kumimoji="0" lang="nn-NO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including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band </a:t>
                      </a:r>
                      <a:r>
                        <a:rPr kumimoji="0" lang="nn-NO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combination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database), </a:t>
                      </a:r>
                      <a:r>
                        <a:rPr kumimoji="0" lang="nn-NO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Per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[323]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NTN_bands_Features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Daniel (Apple)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14:30-16:30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Parameter()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---15:45---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[104] Spectrum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[205] NR_AIML_Mob_RRM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---15:30---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[209]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FS_NR_demod_SCM</a:t>
                      </a: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BSRF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[360] 6G_BSRF_requirements (31)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[361] 6G_BSRF_coexistence_AAS (43)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1.5 GHz Japan (14:30 – 15:30)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[118bis][327] NR_1.5GHz_Japan, </a:t>
                      </a:r>
                      <a:r>
                        <a:rPr kumimoji="0" lang="de-DE" altLang="zh-CN" sz="8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de-DE" altLang="zh-CN" sz="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de-DE" altLang="zh-CN" sz="8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by</a:t>
                      </a:r>
                      <a:r>
                        <a:rPr kumimoji="0" lang="de-DE" altLang="zh-CN" sz="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Yasuki (KDDI)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</a:t>
                      </a: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(15:30 – 16:30)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[348] GNSS resilient, chaired by Dorin (Thales)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311092"/>
                  </a:ext>
                </a:extLst>
              </a:tr>
              <a:tr h="36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17:00-18:00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[104] Spectrum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 Cont.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[205] NR_AIML_Mob_RRM 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 BSRF (cont)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operation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efficiency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Aijun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(CATT)</a:t>
                      </a: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[101-A] System Parameter, Chaired by Leo (Huawei)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[205] NR_AIML_Mob_RRM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Qiuge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Guo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(OPPO) 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Adhoc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6G BSRF requirements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[360] 6G_BSRF_requirements, chaired by Dominique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</a:t>
                      </a:r>
                      <a:r>
                        <a:rPr kumimoji="0" lang="fr-FR" altLang="zh-CN" sz="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Ad-hoc</a:t>
                      </a: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operation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efficiency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Aijun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(CATT)</a:t>
                      </a: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---18:15----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TBD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55531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DEE7935-2C66-0D48-659A-5B5A972B20B9}"/>
              </a:ext>
            </a:extLst>
          </p:cNvPr>
          <p:cNvSpPr/>
          <p:nvPr/>
        </p:nvSpPr>
        <p:spPr bwMode="auto">
          <a:xfrm>
            <a:off x="5159829" y="3352801"/>
            <a:ext cx="3280228" cy="3846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Blip>
                <a:blip r:embed="rId3"/>
              </a:buBlip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10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2" y="-156892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Wednesday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399810"/>
              </p:ext>
            </p:extLst>
          </p:nvPr>
        </p:nvGraphicFramePr>
        <p:xfrm>
          <a:off x="279896" y="672661"/>
          <a:ext cx="11510454" cy="6160745"/>
        </p:xfrm>
        <a:graphic>
          <a:graphicData uri="http://schemas.openxmlformats.org/drawingml/2006/table">
            <a:tbl>
              <a:tblPr/>
              <a:tblGrid>
                <a:gridCol w="75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7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0648">
                  <a:extLst>
                    <a:ext uri="{9D8B030D-6E8A-4147-A177-3AD203B41FA5}">
                      <a16:colId xmlns:a16="http://schemas.microsoft.com/office/drawing/2014/main" val="1939966494"/>
                    </a:ext>
                  </a:extLst>
                </a:gridCol>
                <a:gridCol w="2697676">
                  <a:extLst>
                    <a:ext uri="{9D8B030D-6E8A-4147-A177-3AD203B41FA5}">
                      <a16:colId xmlns:a16="http://schemas.microsoft.com/office/drawing/2014/main" val="3750231385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4112698755"/>
                    </a:ext>
                  </a:extLst>
                </a:gridCol>
              </a:tblGrid>
              <a:tr h="3715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907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[107] 6G AI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and 6G OTA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[213] 6G testability and OTA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[212] NR_UE_OTA_Enh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UE RF LBCA (8:30 – 9:00)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[342]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NR_low_band_CA_switching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James (Apple)</a:t>
                      </a: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BSRF (9:00 – 10:30)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[345] NR_BS_RF_Ph2 (15)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[352]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IoT_sys_outdoor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(34)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(Ambient IoT may start if [345] finishes early)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BR1 Ad-hoc: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[209]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FS_NR_demod_SCM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Alex (Nokia)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---9:30---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BDaT Ad-hoc: IoT and NR NTN RRM maint (9:30 – 10:30)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[306] </a:t>
                      </a:r>
                      <a:r>
                        <a:rPr kumimoji="0" lang="fr-F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NR_IoT_NTN_Maintenance_RRM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</a:t>
                      </a:r>
                      <a:r>
                        <a:rPr kumimoji="0" lang="fr-F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Derrick (ZTE)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716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554715"/>
                  </a:ext>
                </a:extLst>
              </a:tr>
              <a:tr h="890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:00-13:00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OTA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[212] NR_UE_OTA_Enh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---12:00---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[210] 6G Demod_Part1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[352]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IoT_sys_outdoor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(34)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[353]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IoT_indoor_test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(20)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BS RF 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[303] BSRF_Maintenance_Legacy_TEI (18)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[304] BSRF_Maintenance_TEI (28)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(f time available)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Ad-hoc: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R20</a:t>
                      </a:r>
                      <a:r>
                        <a:rPr lang="en-US" altLang="zh-CN" sz="800" b="1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AI</a:t>
                      </a:r>
                      <a:endParaRPr lang="en-US" altLang="zh-CN" sz="800" b="1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NR_AIML_air_Ph2, Chaired by Tom (E///)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---12:00-----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[112] R19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NR_AIML_air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and </a:t>
                      </a: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[119] R19 NR AIML air </a:t>
                      </a:r>
                      <a:r>
                        <a:rPr kumimoji="0" lang="nb-NO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</a:t>
                      </a: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 by Vali (Qualcomm)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48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-16: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[210] 6G Demod_Part1 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Cont.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[211] 6G Demod_Part2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Sensing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[362] 6G_Sensing (25)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[363] 6G_Sensing (34)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[101-B] System Parameter,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Jinqiang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(OPPO)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---15:30---</a:t>
                      </a:r>
                      <a:endParaRPr kumimoji="0" lang="en-GB" altLang="zh-CN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 system parameters (15:30 – 16:30)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[352] A-IoT system parameters, chaired by Ling Lin (Huawei)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5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968582"/>
                  </a:ext>
                </a:extLst>
              </a:tr>
              <a:tr h="578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17:00-18:00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[102] General RF and UE RF 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[211] 6G Demod_Part2 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Cont.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Sensing (cont)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Jinyup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(LGE)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1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[107-A] 6G AI, Chaired by Jackson (Samsung)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 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[208] NR_demod_Ph6,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Jingzhou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Wu (China Telecom)</a:t>
                      </a:r>
                      <a:endParaRPr kumimoji="0" lang="en-US" altLang="zh-CN" sz="800" b="0" i="0" u="none" strike="sng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6G coexistence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[361] 6G_BSRF_coexistence_AAS,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coexistence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part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by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Michal (Huawei)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[102-B] 6G General RF and UE RF,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Haijie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(Xiaomi)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97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19:30 -22:00 RAN4 Dinner and Social Event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sng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829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92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228290"/>
              </p:ext>
            </p:extLst>
          </p:nvPr>
        </p:nvGraphicFramePr>
        <p:xfrm>
          <a:off x="472193" y="815134"/>
          <a:ext cx="11247617" cy="5969463"/>
        </p:xfrm>
        <a:graphic>
          <a:graphicData uri="http://schemas.openxmlformats.org/drawingml/2006/table">
            <a:tbl>
              <a:tblPr/>
              <a:tblGrid>
                <a:gridCol w="86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5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5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5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679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897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[112] R19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NR_AIML_air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(43)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[203] NR_LBCA_Sw_enh_RRM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RRM 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[215] RRM_Maintenance_Up_to_R17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[216] RRM_Maintenance_R18_R19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basket and spectrum WI</a:t>
                      </a:r>
                      <a:endParaRPr kumimoji="0" lang="en-GB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[320] NR_LTE_combos_Features_R20 (9)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[321] DC_xBLTE_yBNR_R20 (22)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[322] NR_bands_Features_R20 (0)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[323] NTN_Bands_Features_R20 (20)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[324] NR_CADC_SUL_R20 (51)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[325] NR_Bands_BW_PC_BC_RedCap (11)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[326] LTE_CA_xBDL_yBUL (0)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[327] NR_1.5GHz_Japan (18)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[328] NR_EESS_PC1_40GHz (9)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[329]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New_CBW_5G_broadcast_over_GSO (5)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Demod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[210] [211] 6G Demod_Part1&amp;Part2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06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618676"/>
                  </a:ext>
                </a:extLst>
              </a:tr>
              <a:tr h="144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:00-13:00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[113] R19_spectrum_maintenance 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[114] R19_UERF_maintenance_Part1()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[115] R19_UERF_maintenance_Part2 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[116] Upto_R17_UERF_maintenance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()</a:t>
                      </a: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[117] R18_UERF_maintenance 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[119] R19 NR AIML air </a:t>
                      </a:r>
                      <a:r>
                        <a:rPr kumimoji="0" lang="nb-NO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 and OTA 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[217] Demod_Maintenance_up_to_R17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[218] Demod_Maintenance_R18_R19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[219]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OTA_Maintenance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Basket and spectrum (</a:t>
                      </a:r>
                      <a:r>
                        <a:rPr kumimoji="0" 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[301] NR_IoT_NTN_Maint_Legacy_RF (40)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[302] NR_IoT_NTN_Maint_Legacy_Demod_TEI (5)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[303] BSRF_Maintenance_Legacy_TEI (18)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[304] BSRF_Maintenance_TEI (28)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[305] NR_IoT_NTN_Maintenance (21)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[306] NR_IoT_NTN_Maintenance_RRM (56)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[307] Ku_band_Maintenance (5)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[308] Ambient_IoT_Maintenance (9)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</a:t>
                      </a:r>
                      <a:r>
                        <a:rPr kumimoji="0" lang="nn-NO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Ad-hoc: </a:t>
                      </a:r>
                      <a:endParaRPr lang="en-US" altLang="zh-CN" sz="800" b="1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R20</a:t>
                      </a:r>
                      <a:r>
                        <a:rPr lang="en-US" altLang="zh-CN" sz="800" b="1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RRM</a:t>
                      </a:r>
                      <a:endParaRPr lang="en-US" altLang="zh-CN" sz="800" b="1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[204] NR_MIMO_Ph6_RRM</a:t>
                      </a:r>
                      <a:r>
                        <a:rPr lang="en-US" altLang="zh-CN" sz="800" b="0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</a:t>
                      </a:r>
                      <a:r>
                        <a:rPr lang="en-US" altLang="zh-CN" sz="800" b="0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Miao Wang (</a:t>
                      </a:r>
                      <a:r>
                        <a:rPr lang="en-US" altLang="zh-CN" sz="800" b="0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MediaTek</a:t>
                      </a:r>
                      <a:r>
                        <a:rPr lang="en-US" altLang="zh-CN" sz="800" b="0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---12:00---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[206] NR_Mob_Ph5_RRM</a:t>
                      </a:r>
                      <a:r>
                        <a:rPr lang="en-US" altLang="zh-CN" sz="800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, Chaired by Roy Hu (OPPO)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71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-16:30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EARLY RETURN TO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Ad-hoc or Early Return-to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 (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NTN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[347] NR_IoT_NTN_Ph2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[346] NR_IoT_NTN_Ph2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 by Jeffery (MTK) and Tank (CHTTL)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0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998595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17:00-18:00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[TBD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Ad-hoc or Early Return-to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 Rel-20 UAV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[351] NR_UAV chaired by Bin (Qualcomm)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[104] Spectrum, Chaired by Johannes(Nokia)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sng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80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[107-A] 6G AI, Chaired by Jackson (Samsung)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---18:15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[107-B] 6G AI, Chaired by Santhan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Ad-hoc or Early Return-to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6G Sensing feasibility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[363] 6G_Sensing, chaired by Mustafa (Qualcomm)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Placeholder for maintenance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192" y="-83247"/>
            <a:ext cx="9263641" cy="1143001"/>
          </a:xfrm>
        </p:spPr>
        <p:txBody>
          <a:bodyPr/>
          <a:lstStyle/>
          <a:p>
            <a:r>
              <a:rPr lang="en-US" altLang="zh-CN" b="1" dirty="0"/>
              <a:t>Thursday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837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2" y="130320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Friday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886323"/>
              </p:ext>
            </p:extLst>
          </p:nvPr>
        </p:nvGraphicFramePr>
        <p:xfrm>
          <a:off x="239391" y="1416731"/>
          <a:ext cx="11657335" cy="2699716"/>
        </p:xfrm>
        <a:graphic>
          <a:graphicData uri="http://schemas.openxmlformats.org/drawingml/2006/table">
            <a:tbl>
              <a:tblPr/>
              <a:tblGrid>
                <a:gridCol w="789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6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6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6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8:00-10:30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system parameter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spectrum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spectrum sharing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134724"/>
                  </a:ext>
                </a:extLst>
              </a:tr>
              <a:tr h="590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:00-12:45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operation efficiency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5GA R19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5GA spectrum and RF maintenance 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OTA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fr-FR" altLang="ja-JP" sz="8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6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:45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-13:45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fr-FR" altLang="ja-JP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53815"/>
                  </a:ext>
                </a:extLst>
              </a:tr>
              <a:tr h="3373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15:00-EOM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 Any other business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 Close of the meeting</a:t>
                      </a: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(final round)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(final round)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fr-FR" altLang="ja-JP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097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gpp">
  <a:themeElements>
    <a:clrScheme name="3gpp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ts val="600"/>
          </a:spcAft>
          <a:buClrTx/>
          <a:buSzTx/>
          <a:buFontTx/>
          <a:buBlip>
            <a:blip xmlns:r="http://schemas.openxmlformats.org/officeDocument/2006/relationships" r:embed="rId1"/>
          </a:buBlip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ts val="600"/>
          </a:spcAft>
          <a:buClrTx/>
          <a:buSzTx/>
          <a:buFontTx/>
          <a:buBlip>
            <a:blip xmlns:r="http://schemas.openxmlformats.org/officeDocument/2006/relationships" r:embed="rId1"/>
          </a:buBlip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3gpp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552158F8185D44A8848B98AEA319AF" ma:contentTypeVersion="12" ma:contentTypeDescription="Create a new document." ma:contentTypeScope="" ma:versionID="6a36ef4f892f86ce52de6a1653dbd950">
  <xsd:schema xmlns:xsd="http://www.w3.org/2001/XMLSchema" xmlns:xs="http://www.w3.org/2001/XMLSchema" xmlns:p="http://schemas.microsoft.com/office/2006/metadata/properties" xmlns:ns3="a915fe38-2618-47b6-8303-829fb71466d5" xmlns:ns4="23d77754-4ccc-4c57-9291-cab09e81894a" targetNamespace="http://schemas.microsoft.com/office/2006/metadata/properties" ma:root="true" ma:fieldsID="f7034ffd361f586299d0e2788fe1325b" ns3:_="" ns4:_="">
    <xsd:import namespace="a915fe38-2618-47b6-8303-829fb71466d5"/>
    <xsd:import namespace="23d77754-4ccc-4c57-9291-cab09e81894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15fe38-2618-47b6-8303-829fb7146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77754-4ccc-4c57-9291-cab09e81894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C68143-B530-4487-9EA7-5BCC5970B48F}">
  <ds:schemaRefs>
    <ds:schemaRef ds:uri="http://schemas.microsoft.com/office/2006/documentManagement/types"/>
    <ds:schemaRef ds:uri="http://schemas.microsoft.com/office/infopath/2007/PartnerControls"/>
    <ds:schemaRef ds:uri="23d77754-4ccc-4c57-9291-cab09e81894a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a915fe38-2618-47b6-8303-829fb71466d5"/>
  </ds:schemaRefs>
</ds:datastoreItem>
</file>

<file path=customXml/itemProps2.xml><?xml version="1.0" encoding="utf-8"?>
<ds:datastoreItem xmlns:ds="http://schemas.openxmlformats.org/officeDocument/2006/customXml" ds:itemID="{AF070948-0CB2-4F99-ACC8-E715860BC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4266F6-0ED4-4E4E-9B55-710101289C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15fe38-2618-47b6-8303-829fb71466d5"/>
    <ds:schemaRef ds:uri="23d77754-4ccc-4c57-9291-cab09e8189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d747bccc-1f7a-43de-9506-0ef23dd23464}" enabled="1" method="Privileged" siteId="{98e9ba89-e1a1-4e38-9007-8bdabc25de1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620215</TotalTime>
  <Words>2429</Words>
  <Application>Microsoft Office PowerPoint</Application>
  <PresentationFormat>宽屏</PresentationFormat>
  <Paragraphs>389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微软雅黑</vt:lpstr>
      <vt:lpstr>Arial</vt:lpstr>
      <vt:lpstr>Arial Black</vt:lpstr>
      <vt:lpstr>Calibri</vt:lpstr>
      <vt:lpstr>Times New Roman</vt:lpstr>
      <vt:lpstr>3gpp</vt:lpstr>
      <vt:lpstr>RAN4#119 Meeting Schedule</vt:lpstr>
      <vt:lpstr>Monday</vt:lpstr>
      <vt:lpstr>Tuesday</vt:lpstr>
      <vt:lpstr>Wednesday</vt:lpstr>
      <vt:lpstr>Thursday</vt:lpstr>
      <vt:lpstr>Friday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RAN4 #118 meeting schedule</dc:title>
  <dc:creator>Administrator</dc:creator>
  <cp:keywords>CTPClassification=CTP_NT</cp:keywords>
  <cp:lastModifiedBy>He Wang</cp:lastModifiedBy>
  <cp:revision>4425</cp:revision>
  <cp:lastPrinted>2016-09-15T08:31:35Z</cp:lastPrinted>
  <dcterms:created xsi:type="dcterms:W3CDTF">2009-11-27T05:15:11Z</dcterms:created>
  <dcterms:modified xsi:type="dcterms:W3CDTF">2026-05-14T18:13:08Z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TitusGUID">
    <vt:lpwstr>6f9c0495-a83c-462b-8664-67016d5bf2d5</vt:lpwstr>
  </property>
  <property fmtid="{D5CDD505-2E9C-101B-9397-08002B2CF9AE}" pid="4" name="CTP_TimeStamp">
    <vt:lpwstr>2020-06-04 10:01:06Z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  <property fmtid="{D5CDD505-2E9C-101B-9397-08002B2CF9AE}" pid="9" name="ContentTypeId">
    <vt:lpwstr>0x010100F2552158F8185D44A8848B98AEA319AF</vt:lpwstr>
  </property>
  <property fmtid="{D5CDD505-2E9C-101B-9397-08002B2CF9AE}" pid="10" name="_2015_ms_pID_725343">
    <vt:lpwstr>(3)WmCX6XJXnVGYXJet/b3Cj8Rn7P85nC/Cu/Iv04k3M5rgJfICxdLbw0IbFfZbsZTDgXvh19dg
LZAQ8DvGq0yxnJm6oaoPZcJxJj7cT96WpFjVFCYDEfWZBGGLg0Hk7yiICIawbHPmphpNxd4d
NXIhFfCL8uuLn5Mf1lOCr0UG6iGdNowsUKmiqgEY/9lVNg1dohnQ3NyAwOOwT9vQOjw2IxrA
NP4gXAZDSgGLq/h2PN</vt:lpwstr>
  </property>
  <property fmtid="{D5CDD505-2E9C-101B-9397-08002B2CF9AE}" pid="11" name="_2015_ms_pID_7253431">
    <vt:lpwstr>H8aKn1tKtJkz0uZ5pdba1vdFQx2H6oSmdQ9HF3vykmrih/07Pra3Dd
s5GYVd+6uIn1eoaajDgTee4bvz2dkce8aPxsZ63AMleypWNeC/VutvSdbhBxdLZZEMLSbfS+
3/pmGq2g6cfO1GOY4K1ER1nIPxQMcMRLaUIWc5fV0A2zfPey8DiH86nOW+3fe6sA3YApjGWJ
d3VT8M6oyU5MWIdQwfBweVp7iLgPjr7vKCEQ</vt:lpwstr>
  </property>
  <property fmtid="{D5CDD505-2E9C-101B-9397-08002B2CF9AE}" pid="12" name="_2015_ms_pID_7253432">
    <vt:lpwstr>vv4OgNkLvT4KwGFYJJzDz94=</vt:lpwstr>
  </property>
  <property fmtid="{D5CDD505-2E9C-101B-9397-08002B2CF9AE}" pid="13" name="_readonly">
    <vt:lpwstr/>
  </property>
  <property fmtid="{D5CDD505-2E9C-101B-9397-08002B2CF9AE}" pid="14" name="_change">
    <vt:lpwstr/>
  </property>
  <property fmtid="{D5CDD505-2E9C-101B-9397-08002B2CF9AE}" pid="15" name="_full-control">
    <vt:lpwstr/>
  </property>
  <property fmtid="{D5CDD505-2E9C-101B-9397-08002B2CF9AE}" pid="16" name="sflag">
    <vt:lpwstr>1744642617</vt:lpwstr>
  </property>
</Properties>
</file>